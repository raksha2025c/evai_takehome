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Urbanist Medium"/>
      <p:regular r:id="rId15"/>
      <p:bold r:id="rId16"/>
      <p:italic r:id="rId17"/>
      <p:boldItalic r:id="rId18"/>
    </p:embeddedFont>
    <p:embeddedFont>
      <p:font typeface="Urbanist SemiBold"/>
      <p:regular r:id="rId19"/>
      <p:bold r:id="rId20"/>
      <p:italic r:id="rId21"/>
      <p:boldItalic r:id="rId22"/>
    </p:embeddedFont>
    <p:embeddedFont>
      <p:font typeface="Urbanis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bold.fntdata"/><Relationship Id="rId22" Type="http://schemas.openxmlformats.org/officeDocument/2006/relationships/font" Target="fonts/UrbanistSemiBold-boldItalic.fntdata"/><Relationship Id="rId21" Type="http://schemas.openxmlformats.org/officeDocument/2006/relationships/font" Target="fonts/UrbanistSemiBold-italic.fntdata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UrbanistMedium-regular.fntdata"/><Relationship Id="rId14" Type="http://schemas.openxmlformats.org/officeDocument/2006/relationships/slide" Target="slides/slide9.xml"/><Relationship Id="rId17" Type="http://schemas.openxmlformats.org/officeDocument/2006/relationships/font" Target="fonts/UrbanistMedium-italic.fntdata"/><Relationship Id="rId16" Type="http://schemas.openxmlformats.org/officeDocument/2006/relationships/font" Target="fonts/UrbanistMedium-bold.fntdata"/><Relationship Id="rId19" Type="http://schemas.openxmlformats.org/officeDocument/2006/relationships/font" Target="fonts/UrbanistSemiBold-regular.fntdata"/><Relationship Id="rId18" Type="http://schemas.openxmlformats.org/officeDocument/2006/relationships/font" Target="fonts/Urbanist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b0aeef24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b0aeef24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b0aeef24a0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b0aeef24a0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b0aeef24a0_0_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b0aeef24a0_0_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b0aeef24a0_0_9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b0aeef24a0_0_9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b0aeef24a0_0_9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b0aeef24a0_0_9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b0aeef24a0_0_9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b0aeef24a0_0_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b0aeef24a0_0_9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b0aeef24a0_0_9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b0aeef24a0_0_9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b0aeef24a0_0_9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b0aeef24a0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b0aeef24a0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8" name="Google Shape;68;p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4" name="Google Shape;104;p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7" name="Google Shape;107;p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9" name="Google Shape;109;p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0" name="Google Shape;110;p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2" name="Google Shape;112;p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3" name="Google Shape;113;p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" name="Google Shape;115;p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6" name="Google Shape;116;p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8" name="Google Shape;118;p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25" name="Google Shape;125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1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4" name="Google Shape;144;p1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5" name="Google Shape;145;p1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" name="Google Shape;147;p1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8" name="Google Shape;148;p1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9" name="Google Shape;149;p1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" name="Google Shape;151;p1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2" name="Google Shape;152;p1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3" name="Google Shape;153;p1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" name="Google Shape;155;p1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61" name="Google Shape;161;p11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74" name="Google Shape;174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5" name="Google Shape;175;p1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7" name="Google Shape;187;p1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04" name="Google Shape;204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7" name="Google Shape;207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1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9" name="Google Shape;209;p1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1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1" name="Google Shape;211;p1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2" name="Google Shape;212;p1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1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7" name="Google Shape;217;p1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8" name="Google Shape;218;p1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9" name="Google Shape;219;p1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2" name="Google Shape;252;p1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0" name="Google Shape;260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1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1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1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1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0" name="Google Shape;290;p1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1" name="Google Shape;291;p1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3" name="Google Shape;293;p1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4" name="Google Shape;294;p1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5" name="Google Shape;295;p1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1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1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1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2" name="Google Shape;302;p1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3" name="Google Shape;303;p1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4" name="Google Shape;304;p1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6" name="Google Shape;306;p1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7" name="Google Shape;307;p1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8" name="Google Shape;308;p1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9" name="Google Shape;309;p1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0" name="Google Shape;310;p1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2" name="Google Shape;312;p1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3" name="Google Shape;313;p1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8" name="Google Shape;318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9" name="Google Shape;319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5" name="Google Shape;325;p1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1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1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28" name="Google Shape;328;p1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9" name="Google Shape;329;p1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1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1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2" name="Google Shape;332;p1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5" name="Google Shape;33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3" name="Google Shape;343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4" name="Google Shape;344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4" name="Google Shape;354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5" name="Google Shape;35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2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" name="Google Shape;437;p41"/>
          <p:cNvGrpSpPr/>
          <p:nvPr/>
        </p:nvGrpSpPr>
        <p:grpSpPr>
          <a:xfrm>
            <a:off x="228591" y="3127350"/>
            <a:ext cx="233094" cy="233094"/>
            <a:chOff x="259788" y="1923155"/>
            <a:chExt cx="409800" cy="409800"/>
          </a:xfrm>
        </p:grpSpPr>
        <p:sp>
          <p:nvSpPr>
            <p:cNvPr id="438" name="Google Shape;438;p41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39" name="Google Shape;439;p41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40" name="Google Shape;440;p41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1" name="Google Shape;441;p41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42" name="Google Shape;442;p41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Ease Vertical AI Take-Home Assignment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43" name="Google Shape;443;p41"/>
          <p:cNvSpPr txBox="1"/>
          <p:nvPr>
            <p:ph idx="1" type="subTitle"/>
          </p:nvPr>
        </p:nvSpPr>
        <p:spPr>
          <a:xfrm>
            <a:off x="228600" y="1738950"/>
            <a:ext cx="4402800" cy="635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Raksha Chandrashekar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rc3729@columbia.edu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44" name="Google Shape;444;p41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December 2025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450" name="Google Shape;450;p4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451" name="Google Shape;451;p42"/>
          <p:cNvSpPr txBox="1"/>
          <p:nvPr>
            <p:ph type="title"/>
          </p:nvPr>
        </p:nvSpPr>
        <p:spPr>
          <a:xfrm>
            <a:off x="228600" y="290450"/>
            <a:ext cx="8561700" cy="1217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AXELWAVE COMPANY DISCOVERY AI</a:t>
            </a:r>
            <a:endParaRPr b="1" sz="2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AI-Powered Business Intelligence for Automotive Retail</a:t>
            </a:r>
            <a:endParaRPr b="1"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2" name="Google Shape;452;p42"/>
          <p:cNvSpPr txBox="1"/>
          <p:nvPr>
            <p:ph idx="1" type="subTitle"/>
          </p:nvPr>
        </p:nvSpPr>
        <p:spPr>
          <a:xfrm>
            <a:off x="366600" y="1382550"/>
            <a:ext cx="7954500" cy="2843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/>
              <a:t>• Problem: Manual company discovery is slow and inconsistent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/>
              <a:t>• Solution: AI agents that find customers &amp; partners 10x faster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2100"/>
          </a:p>
        </p:txBody>
      </p:sp>
      <p:sp>
        <p:nvSpPr>
          <p:cNvPr id="453" name="Google Shape;453;p4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3"/>
          <p:cNvSpPr txBox="1"/>
          <p:nvPr>
            <p:ph idx="1" type="subTitle"/>
          </p:nvPr>
        </p:nvSpPr>
        <p:spPr>
          <a:xfrm>
            <a:off x="5064075" y="3818375"/>
            <a:ext cx="3231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sp>
        <p:nvSpPr>
          <p:cNvPr id="459" name="Google Shape;459;p4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4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4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43"/>
          <p:cNvSpPr txBox="1"/>
          <p:nvPr>
            <p:ph type="title"/>
          </p:nvPr>
        </p:nvSpPr>
        <p:spPr>
          <a:xfrm>
            <a:off x="228600" y="290448"/>
            <a:ext cx="3655800" cy="1440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Architecture</a:t>
            </a:r>
            <a:endParaRPr/>
          </a:p>
        </p:txBody>
      </p:sp>
      <p:pic>
        <p:nvPicPr>
          <p:cNvPr id="463" name="Google Shape;46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4075" y="998975"/>
            <a:ext cx="3095625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4"/>
          <p:cNvSpPr txBox="1"/>
          <p:nvPr>
            <p:ph idx="1" type="subTitle"/>
          </p:nvPr>
        </p:nvSpPr>
        <p:spPr>
          <a:xfrm>
            <a:off x="214500" y="1041300"/>
            <a:ext cx="4230600" cy="335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Tools: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Streamlit (Frontend)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Hugging Face Transformers (Local LLM)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ChromaDB (Vector Database)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LangChain (Agent Orchestration)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Implementation (Free Tier):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Local LLM: No API costs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Open-source tools only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Runs on CPU: No GPU needed</a:t>
            </a:r>
            <a:endParaRPr/>
          </a:p>
          <a:p>
            <a:pPr indent="-330200" lvl="0" marL="4572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No external dependencies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4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4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44"/>
          <p:cNvSpPr txBox="1"/>
          <p:nvPr>
            <p:ph type="title"/>
          </p:nvPr>
        </p:nvSpPr>
        <p:spPr>
          <a:xfrm>
            <a:off x="214500" y="228598"/>
            <a:ext cx="36558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Stack</a:t>
            </a:r>
            <a:endParaRPr/>
          </a:p>
        </p:txBody>
      </p:sp>
      <p:sp>
        <p:nvSpPr>
          <p:cNvPr id="473" name="Google Shape;473;p44"/>
          <p:cNvSpPr txBox="1"/>
          <p:nvPr>
            <p:ph idx="1" type="subTitle"/>
          </p:nvPr>
        </p:nvSpPr>
        <p:spPr>
          <a:xfrm>
            <a:off x="4604800" y="1608000"/>
            <a:ext cx="4230600" cy="172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More Resources: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Fine-tuned industry-specific models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Cloud deployment (AWS/GCP)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Real-time data streaming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Advanced analytics dashboard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5"/>
          <p:cNvSpPr txBox="1"/>
          <p:nvPr>
            <p:ph idx="1" type="subTitle"/>
          </p:nvPr>
        </p:nvSpPr>
        <p:spPr>
          <a:xfrm>
            <a:off x="521375" y="1600800"/>
            <a:ext cx="3502200" cy="267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1. SEARCH AGENT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   • Responsibility: Find company names and basic info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   • Tools: Google Search API, business directories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   • Output: Raw company list with sources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2. ANALYSIS AGENT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   • Responsibility: Enrich and evaluate companies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   • Tools: Local LLM, business logic rules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   • Output: Structured company profiles with scores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3. VALIDATION AGENT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   • Responsibility: Verify data accuracy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   • Tools: Cross-referencing, confidence scoring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   • Output: Validated results with confidence scores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79" name="Google Shape;479;p4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4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45"/>
          <p:cNvSpPr txBox="1"/>
          <p:nvPr>
            <p:ph type="title"/>
          </p:nvPr>
        </p:nvSpPr>
        <p:spPr>
          <a:xfrm>
            <a:off x="228600" y="290448"/>
            <a:ext cx="3655800" cy="1440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Agent Architecture</a:t>
            </a:r>
            <a:endParaRPr/>
          </a:p>
        </p:txBody>
      </p:sp>
      <p:sp>
        <p:nvSpPr>
          <p:cNvPr id="483" name="Google Shape;483;p45"/>
          <p:cNvSpPr txBox="1"/>
          <p:nvPr/>
        </p:nvSpPr>
        <p:spPr>
          <a:xfrm>
            <a:off x="4446325" y="1624900"/>
            <a:ext cx="3655800" cy="25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AGENT COMMUNICATION: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• Shared context through vector database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• Sequential workflow with feedback loops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• Error handling and fallback strategies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6"/>
          <p:cNvSpPr txBox="1"/>
          <p:nvPr>
            <p:ph idx="1" type="subTitle"/>
          </p:nvPr>
        </p:nvSpPr>
        <p:spPr>
          <a:xfrm>
            <a:off x="4314775" y="383300"/>
            <a:ext cx="4230600" cy="3887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AI/ML Tools: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1. Hugging Face Transformers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2. Sentence Transformers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3. ChromaDB (Vector database)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4. LangChain (Agent framework)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Development Tools: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1. VS Code with GitHub Copilot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2. Streamlit (UI framework)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3. Python 3.10+ (Backend)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4. Git/GitHub (Version control)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5. ChatGPT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Data Sources: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1. Built-in automotive industry knowledge base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2. Google Custom Search API (free tier)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3. Public business directories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4. Industry reports and whitepapers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489" name="Google Shape;489;p4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4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4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46"/>
          <p:cNvSpPr txBox="1"/>
          <p:nvPr>
            <p:ph type="title"/>
          </p:nvPr>
        </p:nvSpPr>
        <p:spPr>
          <a:xfrm>
            <a:off x="228600" y="290448"/>
            <a:ext cx="3655800" cy="206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and Resources Used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7"/>
          <p:cNvSpPr txBox="1"/>
          <p:nvPr>
            <p:ph idx="1" type="subTitle"/>
          </p:nvPr>
        </p:nvSpPr>
        <p:spPr>
          <a:xfrm>
            <a:off x="4314775" y="345250"/>
            <a:ext cx="4230600" cy="392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Phase 1: MVP (Current)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• Single-machine Streamlit app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• Local AI models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• Manual updates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Phase 2: Cloud Scaling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• Docker containerization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• Kubernetes orchestration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• Auto-scaling based on load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• CDN for static assets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Phase 3: Enterprise Features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• Multi-tenant architecture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• SOC 2 compliance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• Advanced monitoring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• SLA guarantees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98" name="Google Shape;498;p47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47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7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47"/>
          <p:cNvSpPr txBox="1"/>
          <p:nvPr>
            <p:ph type="title"/>
          </p:nvPr>
        </p:nvSpPr>
        <p:spPr>
          <a:xfrm>
            <a:off x="228600" y="290448"/>
            <a:ext cx="3655800" cy="1440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</a:t>
            </a:r>
            <a:r>
              <a:rPr lang="en"/>
              <a:t> Strategy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8"/>
          <p:cNvSpPr txBox="1"/>
          <p:nvPr>
            <p:ph idx="1" type="subTitle"/>
          </p:nvPr>
        </p:nvSpPr>
        <p:spPr>
          <a:xfrm>
            <a:off x="4314775" y="510125"/>
            <a:ext cx="4230600" cy="37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Performance Metrics: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• Query response: &lt; 3 seconds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Scaling Approach: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• Serverless functions for AI inference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• Redis caching for frequent queries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• Read replicas for database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• CDN for UI assets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Cost Optimization: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• Spot instances for batch processing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• Model compression techniques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• Query batching and caching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• Cold start optimization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507" name="Google Shape;507;p4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4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4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48"/>
          <p:cNvSpPr txBox="1"/>
          <p:nvPr>
            <p:ph type="title"/>
          </p:nvPr>
        </p:nvSpPr>
        <p:spPr>
          <a:xfrm>
            <a:off x="228600" y="290448"/>
            <a:ext cx="3655800" cy="206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and Scalability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9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516" name="Google Shape;516;p49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517" name="Google Shape;517;p49"/>
          <p:cNvSpPr txBox="1"/>
          <p:nvPr>
            <p:ph type="title"/>
          </p:nvPr>
        </p:nvSpPr>
        <p:spPr>
          <a:xfrm>
            <a:off x="228600" y="290450"/>
            <a:ext cx="36558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Thank you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18" name="Google Shape;518;p49"/>
          <p:cNvSpPr/>
          <p:nvPr/>
        </p:nvSpPr>
        <p:spPr>
          <a:xfrm>
            <a:off x="228600" y="3299625"/>
            <a:ext cx="84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49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